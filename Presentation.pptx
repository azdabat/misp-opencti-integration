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sldIdLst>
    <p:sldId id="256" r:id="rId2"/>
    <p:sldId id="258" r:id="rId3"/>
    <p:sldId id="260" r:id="rId4"/>
    <p:sldId id="262" r:id="rId5"/>
    <p:sldId id="261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8D6019-84C2-1B73-8DEC-D696DAB67FC1}" v="9" dt="2025-11-03T14:06:06.040"/>
    <p1510:client id="{AB96F65A-033A-4662-C7CA-D4689802EBDB}" v="774" dt="2025-11-03T13:50:36.7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386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181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72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959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496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09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266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37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021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982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402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6472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320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078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4757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7733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90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7849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5205" y="2945935"/>
            <a:ext cx="11261833" cy="1327783"/>
          </a:xfrm>
        </p:spPr>
        <p:txBody>
          <a:bodyPr>
            <a:normAutofit/>
          </a:bodyPr>
          <a:lstStyle/>
          <a:p>
            <a:br>
              <a:rPr lang="en-GB" sz="3200" dirty="0">
                <a:ea typeface="+mj-lt"/>
                <a:cs typeface="+mj-lt"/>
              </a:rPr>
            </a:br>
            <a:r>
              <a:rPr lang="en-GB" sz="1800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j-lt"/>
                <a:cs typeface="+mj-lt"/>
              </a:rPr>
              <a:t> </a:t>
            </a:r>
            <a:r>
              <a:rPr lang="en-GB" sz="1800" b="1" i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a typeface="+mj-lt"/>
                <a:cs typeface="+mj-lt"/>
              </a:rPr>
              <a:t>Including the Tools and Technologies Used for Prioritisation and Triaging</a:t>
            </a:r>
            <a:r>
              <a:rPr lang="en-GB" sz="1800" b="1" i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latin typeface="Century Gothic"/>
                <a:ea typeface="Calibri"/>
                <a:cs typeface="Calibri"/>
              </a:rPr>
              <a:t> Methodology for Identifying and Analysing Threats</a:t>
            </a:r>
            <a:endParaRPr lang="en-US" sz="1800" b="1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65000"/>
                    <a:lumOff val="35000"/>
                    <a:alpha val="50000"/>
                  </a:prst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  <a:latin typeface="Century Gothic"/>
              <a:ea typeface="Calibri"/>
              <a:cs typeface="Calibri"/>
            </a:endParaRPr>
          </a:p>
          <a:p>
            <a:endParaRPr lang="en-GB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65000"/>
                    <a:lumOff val="35000"/>
                    <a:alpha val="50000"/>
                  </a:prst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  <a:latin typeface="Calibri"/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2859" y="2022231"/>
            <a:ext cx="11255298" cy="3768969"/>
          </a:xfrm>
        </p:spPr>
        <p:txBody>
          <a:bodyPr/>
          <a:lstStyle/>
          <a:p>
            <a:endParaRPr lang="en-GB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entury Gothic"/>
              <a:ea typeface="+mn-lt"/>
              <a:cs typeface="+mn-lt"/>
            </a:endParaRPr>
          </a:p>
          <a:p>
            <a:endParaRPr lang="en-GB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r>
              <a:rPr lang="en-GB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                                  </a:t>
            </a:r>
            <a:endParaRPr lang="en-GB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2DBE1A-63AA-EBA7-32E6-5B99838D956F}"/>
              </a:ext>
            </a:extLst>
          </p:cNvPr>
          <p:cNvSpPr txBox="1"/>
          <p:nvPr/>
        </p:nvSpPr>
        <p:spPr>
          <a:xfrm>
            <a:off x="408407" y="3908166"/>
            <a:ext cx="11071923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b="1" dirty="0">
                <a:ea typeface="+mn-lt"/>
                <a:cs typeface="+mn-lt"/>
              </a:rPr>
              <a:t>Ali </a:t>
            </a:r>
            <a:r>
              <a:rPr lang="en-GB" sz="2800" b="1" err="1">
                <a:ea typeface="+mn-lt"/>
                <a:cs typeface="+mn-lt"/>
              </a:rPr>
              <a:t>Dabat</a:t>
            </a:r>
            <a:br>
              <a:rPr lang="en-GB" sz="2800" b="1" dirty="0">
                <a:ea typeface="+mn-lt"/>
                <a:cs typeface="+mn-lt"/>
              </a:rPr>
            </a:br>
            <a:r>
              <a:rPr lang="en-GB" sz="2800" b="1" dirty="0">
                <a:ea typeface="+mn-lt"/>
                <a:cs typeface="+mn-lt"/>
              </a:rPr>
              <a:t> </a:t>
            </a:r>
            <a:r>
              <a:rPr lang="en-GB" sz="2800" i="1" dirty="0">
                <a:ea typeface="+mn-lt"/>
                <a:cs typeface="+mn-lt"/>
              </a:rPr>
              <a:t>Senior Cyber Analyst &amp; Threat Hunter → Threat Intelligence Transition</a:t>
            </a:r>
            <a:br>
              <a:rPr lang="en-GB" sz="2800" i="1" dirty="0">
                <a:ea typeface="+mn-lt"/>
                <a:cs typeface="+mn-lt"/>
              </a:rPr>
            </a:br>
            <a:r>
              <a:rPr lang="en-GB" sz="2800" i="1" dirty="0">
                <a:ea typeface="+mn-lt"/>
                <a:cs typeface="+mn-lt"/>
              </a:rPr>
              <a:t> </a:t>
            </a:r>
            <a:r>
              <a:rPr lang="en-GB" sz="2800" b="1" dirty="0">
                <a:ea typeface="+mn-lt"/>
                <a:cs typeface="+mn-lt"/>
              </a:rPr>
              <a:t>NTT DATA – Threat Intelligence Analyst Interview</a:t>
            </a:r>
            <a:br>
              <a:rPr lang="en-GB" sz="2800" b="1" dirty="0">
                <a:ea typeface="+mn-lt"/>
                <a:cs typeface="+mn-lt"/>
              </a:rPr>
            </a:br>
            <a:r>
              <a:rPr lang="en-GB" sz="2800" b="1" dirty="0">
                <a:ea typeface="+mn-lt"/>
                <a:cs typeface="+mn-lt"/>
              </a:rPr>
              <a:t> </a:t>
            </a:r>
            <a:r>
              <a:rPr lang="en-GB" sz="2800" i="1" dirty="0">
                <a:ea typeface="+mn-lt"/>
                <a:cs typeface="+mn-lt"/>
              </a:rPr>
              <a:t>06 November 2025</a:t>
            </a:r>
            <a:endParaRPr lang="en-US" sz="2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623CF6-8744-F063-1C42-231F4DE2BA20}"/>
              </a:ext>
            </a:extLst>
          </p:cNvPr>
          <p:cNvSpPr txBox="1"/>
          <p:nvPr/>
        </p:nvSpPr>
        <p:spPr>
          <a:xfrm>
            <a:off x="524924" y="393693"/>
            <a:ext cx="11623328" cy="29700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cap="all" dirty="0"/>
              <a:t>An Overview of a Methodology for Identifying and Analysing </a:t>
            </a:r>
            <a:r>
              <a:rPr lang="en-GB" sz="4800" cap="all" err="1"/>
              <a:t>ThreatS</a:t>
            </a:r>
            <a:br>
              <a:rPr lang="en-GB" sz="4300" cap="all" dirty="0"/>
            </a:br>
            <a:endParaRPr lang="en-GB" sz="43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89D057-48F8-94A8-B990-B207E8A41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798D2-3487-5D28-F6E6-C38EFDEC1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628" y="609601"/>
            <a:ext cx="11536652" cy="2039815"/>
          </a:xfrm>
        </p:spPr>
        <p:txBody>
          <a:bodyPr/>
          <a:lstStyle/>
          <a:p>
            <a:r>
              <a:rPr lang="en-GB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Zero-Trust Threat Intelligence in Practice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C07B1-DAEC-72C0-51D9-F7E240AB3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59" y="2022231"/>
            <a:ext cx="11255298" cy="3768969"/>
          </a:xfrm>
        </p:spPr>
        <p:txBody>
          <a:bodyPr/>
          <a:lstStyle/>
          <a:p>
            <a:endParaRPr lang="en-GB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alibri"/>
              <a:ea typeface="+mn-lt"/>
              <a:cs typeface="+mn-lt"/>
            </a:endParaRPr>
          </a:p>
          <a:p>
            <a:endParaRPr lang="en-GB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r>
              <a:rPr lang="en-GB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                                  </a:t>
            </a:r>
            <a:endParaRPr lang="en-GB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7716BB-B1F3-F1B9-7837-C5C259B18F8A}"/>
              </a:ext>
            </a:extLst>
          </p:cNvPr>
          <p:cNvSpPr txBox="1"/>
          <p:nvPr/>
        </p:nvSpPr>
        <p:spPr>
          <a:xfrm>
            <a:off x="504266" y="2823882"/>
            <a:ext cx="11093821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An Overview of a Methodology for Identifying and </a:t>
            </a:r>
            <a:r>
              <a:rPr lang="en-US" sz="2400" b="1" err="1"/>
              <a:t>Analysing</a:t>
            </a:r>
            <a:r>
              <a:rPr lang="en-US" sz="2400" b="1" dirty="0"/>
              <a:t> Threats</a:t>
            </a:r>
            <a:br>
              <a:rPr lang="en-US" sz="2400" dirty="0"/>
            </a:br>
            <a:r>
              <a:rPr lang="en-US" sz="2400" i="1" dirty="0"/>
              <a:t>with the Tools and Technologies Used — Including </a:t>
            </a:r>
            <a:r>
              <a:rPr lang="en-US" sz="2400" i="1" err="1"/>
              <a:t>Prioritisation</a:t>
            </a:r>
            <a:r>
              <a:rPr lang="en-US" sz="2400" i="1" dirty="0"/>
              <a:t> and Triaging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Supply-chain and AI-enabled attacks (</a:t>
            </a:r>
            <a:r>
              <a:rPr lang="en-US" sz="2400" b="1" dirty="0"/>
              <a:t>SolarWinds → 3CX → NTT Com 2025</a:t>
            </a:r>
            <a:r>
              <a:rPr lang="en-US" sz="2400" dirty="0"/>
              <a:t>).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Attackers abuse trusted software and signed updates.</a:t>
            </a:r>
          </a:p>
          <a:p>
            <a:pPr marL="228600" indent="-228600">
              <a:buFont typeface=""/>
              <a:buChar char="•"/>
            </a:pPr>
            <a:r>
              <a:rPr lang="en-US" sz="2400" b="1" dirty="0"/>
              <a:t>Zero Trust</a:t>
            </a:r>
            <a:r>
              <a:rPr lang="en-US" sz="2400" dirty="0"/>
              <a:t> now extends to data and intelligence feeds.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Goal → turn telemetry into validated, confidence-scored intelligence via </a:t>
            </a:r>
            <a:r>
              <a:rPr lang="en-US" sz="2400" b="1" dirty="0"/>
              <a:t>STIX 2.x / TAXII 2.x.</a:t>
            </a:r>
          </a:p>
          <a:p>
            <a:pPr algn="ctr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72619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73C4A-4BF2-435E-1D19-1F11EE2B8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1F106-4EA0-4323-15E7-2E78DCDF2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254" y="609600"/>
            <a:ext cx="10776219" cy="152494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FFFFFF"/>
                </a:soli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Methodology Overview | From Collection to Action</a:t>
            </a:r>
            <a:endParaRPr lang="en-US" dirty="0"/>
          </a:p>
          <a:p>
            <a:pPr>
              <a:lnSpc>
                <a:spcPct val="90000"/>
              </a:lnSpc>
            </a:pPr>
            <a:endParaRPr lang="en-GB" sz="3000" dirty="0">
              <a:effectLst>
                <a:glow rad="38100">
                  <a:prstClr val="black">
                    <a:lumMod val="65000"/>
                    <a:lumOff val="35000"/>
                    <a:alpha val="50000"/>
                  </a:prst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503DDA-8EDE-61CB-E35B-B0A41E288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4106" y="4365523"/>
            <a:ext cx="3369132" cy="1793053"/>
          </a:xfrm>
        </p:spPr>
        <p:txBody>
          <a:bodyPr>
            <a:normAutofit/>
          </a:bodyPr>
          <a:lstStyle/>
          <a:p>
            <a:endParaRPr lang="en-GB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alibri"/>
              <a:ea typeface="+mn-lt"/>
              <a:cs typeface="+mn-lt"/>
            </a:endParaRPr>
          </a:p>
          <a:p>
            <a:endParaRPr lang="en-GB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r>
              <a:rPr lang="en-GB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                                  </a:t>
            </a:r>
            <a:endParaRPr lang="en-GB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5B8DA-CC68-2472-9542-31774094699E}"/>
              </a:ext>
            </a:extLst>
          </p:cNvPr>
          <p:cNvSpPr txBox="1"/>
          <p:nvPr/>
        </p:nvSpPr>
        <p:spPr>
          <a:xfrm>
            <a:off x="504266" y="2823882"/>
            <a:ext cx="11093821" cy="9079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endParaRPr lang="en-US" sz="2400" i="1"/>
          </a:p>
          <a:p>
            <a:pPr algn="ctr">
              <a:spcAft>
                <a:spcPts val="600"/>
              </a:spcAft>
            </a:pPr>
            <a:endParaRPr lang="en-GB" sz="24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9E47AA-C1C9-EEFC-3863-7389C86DA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13556"/>
              </p:ext>
            </p:extLst>
          </p:nvPr>
        </p:nvGraphicFramePr>
        <p:xfrm>
          <a:off x="638735" y="1916205"/>
          <a:ext cx="10834116" cy="4339726"/>
        </p:xfrm>
        <a:graphic>
          <a:graphicData uri="http://schemas.openxmlformats.org/drawingml/2006/table">
            <a:tbl>
              <a:tblPr bandRow="1">
                <a:solidFill>
                  <a:schemeClr val="tx1">
                    <a:lumMod val="75000"/>
                    <a:lumOff val="25000"/>
                  </a:schemeClr>
                </a:solidFill>
                <a:tableStyleId>{5C22544A-7EE6-4342-B048-85BDC9FD1C3A}</a:tableStyleId>
              </a:tblPr>
              <a:tblGrid>
                <a:gridCol w="1514558">
                  <a:extLst>
                    <a:ext uri="{9D8B030D-6E8A-4147-A177-3AD203B41FA5}">
                      <a16:colId xmlns:a16="http://schemas.microsoft.com/office/drawing/2014/main" val="3871727789"/>
                    </a:ext>
                  </a:extLst>
                </a:gridCol>
                <a:gridCol w="2427492">
                  <a:extLst>
                    <a:ext uri="{9D8B030D-6E8A-4147-A177-3AD203B41FA5}">
                      <a16:colId xmlns:a16="http://schemas.microsoft.com/office/drawing/2014/main" val="651425671"/>
                    </a:ext>
                  </a:extLst>
                </a:gridCol>
                <a:gridCol w="2427492">
                  <a:extLst>
                    <a:ext uri="{9D8B030D-6E8A-4147-A177-3AD203B41FA5}">
                      <a16:colId xmlns:a16="http://schemas.microsoft.com/office/drawing/2014/main" val="3174480047"/>
                    </a:ext>
                  </a:extLst>
                </a:gridCol>
                <a:gridCol w="2437352">
                  <a:extLst>
                    <a:ext uri="{9D8B030D-6E8A-4147-A177-3AD203B41FA5}">
                      <a16:colId xmlns:a16="http://schemas.microsoft.com/office/drawing/2014/main" val="3348929717"/>
                    </a:ext>
                  </a:extLst>
                </a:gridCol>
                <a:gridCol w="2027222">
                  <a:extLst>
                    <a:ext uri="{9D8B030D-6E8A-4147-A177-3AD203B41FA5}">
                      <a16:colId xmlns:a16="http://schemas.microsoft.com/office/drawing/2014/main" val="4178714489"/>
                    </a:ext>
                  </a:extLst>
                </a:gridCol>
              </a:tblGrid>
              <a:tr h="461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 dirty="0">
                          <a:solidFill>
                            <a:schemeClr val="bg1"/>
                          </a:solidFill>
                        </a:rPr>
                        <a:t>Phase</a:t>
                      </a:r>
                    </a:p>
                  </a:txBody>
                  <a:tcPr marL="65402" marR="93431" marT="18686" marB="140147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 dirty="0">
                          <a:solidFill>
                            <a:schemeClr val="bg1"/>
                          </a:solidFill>
                        </a:rPr>
                        <a:t>Objective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200" b="1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65402" marR="93431" marT="18685" marB="14014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 dirty="0">
                          <a:solidFill>
                            <a:schemeClr val="bg1"/>
                          </a:solidFill>
                        </a:rPr>
                        <a:t>Tools / Data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 dirty="0">
                          <a:solidFill>
                            <a:schemeClr val="bg1"/>
                          </a:solidFill>
                        </a:rPr>
                        <a:t>Outcome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959146"/>
                  </a:ext>
                </a:extLst>
              </a:tr>
              <a:tr h="844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 dirty="0">
                          <a:solidFill>
                            <a:schemeClr val="tx1"/>
                          </a:solidFill>
                        </a:rPr>
                        <a:t>Direction</a:t>
                      </a:r>
                    </a:p>
                  </a:txBody>
                  <a:tcPr marL="65402" marR="93431" marT="18686" marB="140147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 dirty="0">
                          <a:solidFill>
                            <a:schemeClr val="tx1"/>
                          </a:solidFill>
                        </a:rPr>
                        <a:t>Define intel requirements by sector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2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5402" marR="93431" marT="18685" marB="14014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 dirty="0">
                          <a:solidFill>
                            <a:schemeClr val="tx1"/>
                          </a:solidFill>
                        </a:rPr>
                        <a:t>MITRE ATT&amp;CK, CTI tasking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 dirty="0">
                          <a:solidFill>
                            <a:schemeClr val="tx1"/>
                          </a:solidFill>
                        </a:rPr>
                        <a:t>Clear collection plan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872479"/>
                  </a:ext>
                </a:extLst>
              </a:tr>
              <a:tr h="844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 dirty="0">
                          <a:solidFill>
                            <a:schemeClr val="bg1"/>
                          </a:solidFill>
                        </a:rPr>
                        <a:t>Collection</a:t>
                      </a:r>
                    </a:p>
                  </a:txBody>
                  <a:tcPr marL="65402" marR="93431" marT="18686" marB="140147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 dirty="0">
                          <a:solidFill>
                            <a:schemeClr val="bg1"/>
                          </a:solidFill>
                        </a:rPr>
                        <a:t>Gather telemetry + external feeds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2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65402" marR="93431" marT="18685" marB="14014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 dirty="0">
                          <a:solidFill>
                            <a:schemeClr val="bg1"/>
                          </a:solidFill>
                        </a:rPr>
                        <a:t>Sentinel / MDE / OSINT / Dark Web / MISP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 dirty="0">
                          <a:solidFill>
                            <a:schemeClr val="bg1"/>
                          </a:solidFill>
                        </a:rPr>
                        <a:t>Raw IOCs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706118"/>
                  </a:ext>
                </a:extLst>
              </a:tr>
              <a:tr h="844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 dirty="0">
                          <a:solidFill>
                            <a:schemeClr val="tx1"/>
                          </a:solidFill>
                        </a:rPr>
                        <a:t>Processing</a:t>
                      </a:r>
                    </a:p>
                  </a:txBody>
                  <a:tcPr marL="65402" marR="93431" marT="18686" marB="140147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 dirty="0">
                          <a:solidFill>
                            <a:schemeClr val="tx1"/>
                          </a:solidFill>
                        </a:rPr>
                        <a:t>Normalise &amp; enrich data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2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5402" marR="93431" marT="18685" marB="14014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 dirty="0">
                          <a:solidFill>
                            <a:schemeClr val="tx1"/>
                          </a:solidFill>
                        </a:rPr>
                        <a:t>STIX 2.x (JSON) + TLP / confidence tags in MISP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 dirty="0">
                          <a:solidFill>
                            <a:schemeClr val="tx1"/>
                          </a:solidFill>
                        </a:rPr>
                        <a:t>Structured intel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054491"/>
                  </a:ext>
                </a:extLst>
              </a:tr>
              <a:tr h="672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 dirty="0">
                          <a:solidFill>
                            <a:schemeClr val="bg1"/>
                          </a:solidFill>
                        </a:rPr>
                        <a:t>Analysis</a:t>
                      </a:r>
                    </a:p>
                  </a:txBody>
                  <a:tcPr marL="65402" marR="93431" marT="18686" marB="140147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 dirty="0">
                          <a:solidFill>
                            <a:schemeClr val="bg1"/>
                          </a:solidFill>
                        </a:rPr>
                        <a:t>Correlate behaviour + TTPs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2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65402" marR="93431" marT="18685" marB="14014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 dirty="0">
                          <a:solidFill>
                            <a:schemeClr val="bg1"/>
                          </a:solidFill>
                        </a:rPr>
                        <a:t>Open-CTI graphs / KQL hunts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cap="none" spc="0" dirty="0">
                          <a:solidFill>
                            <a:schemeClr val="bg1"/>
                          </a:solidFill>
                        </a:rPr>
                        <a:t>Context &amp; patterns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58179"/>
                  </a:ext>
                </a:extLst>
              </a:tr>
              <a:tr h="672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 dirty="0">
                          <a:solidFill>
                            <a:schemeClr val="tx1"/>
                          </a:solidFill>
                        </a:rPr>
                        <a:t>Dissemination</a:t>
                      </a:r>
                    </a:p>
                  </a:txBody>
                  <a:tcPr marL="65402" marR="93431" marT="18686" marB="140147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 dirty="0">
                          <a:solidFill>
                            <a:schemeClr val="tx1"/>
                          </a:solidFill>
                        </a:rPr>
                        <a:t>Deliver intel &amp; directives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2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5402" marR="93431" marT="18685" marB="14014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 dirty="0">
                          <a:solidFill>
                            <a:schemeClr val="tx1"/>
                          </a:solidFill>
                        </a:rPr>
                        <a:t>TAXII 2.x (HTTPS) → Sentinel / SOAR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cap="none" spc="0" dirty="0">
                          <a:solidFill>
                            <a:schemeClr val="tx1"/>
                          </a:solidFill>
                        </a:rPr>
                        <a:t>Actionable outputs</a:t>
                      </a:r>
                    </a:p>
                  </a:txBody>
                  <a:tcPr marL="65402" marR="93431" marT="18686" marB="1401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44748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F8E0FC6-EDDD-9681-5050-A40CC8B39384}"/>
              </a:ext>
            </a:extLst>
          </p:cNvPr>
          <p:cNvSpPr txBox="1"/>
          <p:nvPr/>
        </p:nvSpPr>
        <p:spPr>
          <a:xfrm>
            <a:off x="660823" y="6283580"/>
            <a:ext cx="816791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/>
              <a:t>CTI Framework – Open-CTI </a:t>
            </a:r>
            <a:r>
              <a:rPr lang="en-GB" b="1" err="1"/>
              <a:t>Itegration</a:t>
            </a:r>
            <a:r>
              <a:rPr lang="en-GB" b="1" dirty="0"/>
              <a:t> &amp; Zero Trust on Data </a:t>
            </a:r>
            <a:r>
              <a:rPr lang="en-GB" b="1" err="1"/>
              <a:t>Assests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923249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D0C5E-E2DF-6B3E-4462-9E87CE23A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868C2-88B3-A2ED-3B97-02C0F8EEF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10" y="273425"/>
            <a:ext cx="11536652" cy="1569168"/>
          </a:xfrm>
        </p:spPr>
        <p:txBody>
          <a:bodyPr/>
          <a:lstStyle/>
          <a:p>
            <a:r>
              <a:rPr lang="en-GB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SOC ↔ MISP ↔ Open-CTI Zero-Trust Fusion Loop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5DBCE-D971-7054-AE2D-A0610560F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59" y="2022231"/>
            <a:ext cx="11255298" cy="3768969"/>
          </a:xfrm>
        </p:spPr>
        <p:txBody>
          <a:bodyPr/>
          <a:lstStyle/>
          <a:p>
            <a:endParaRPr lang="en-GB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alibri"/>
              <a:ea typeface="+mn-lt"/>
              <a:cs typeface="+mn-lt"/>
            </a:endParaRPr>
          </a:p>
          <a:p>
            <a:endParaRPr lang="en-GB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r>
              <a:rPr lang="en-GB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                                  </a:t>
            </a:r>
            <a:endParaRPr lang="en-GB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D8607-B4AB-56EC-1118-F249620565EF}"/>
              </a:ext>
            </a:extLst>
          </p:cNvPr>
          <p:cNvSpPr txBox="1"/>
          <p:nvPr/>
        </p:nvSpPr>
        <p:spPr>
          <a:xfrm>
            <a:off x="403413" y="1837764"/>
            <a:ext cx="11093821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i="1" dirty="0"/>
          </a:p>
          <a:p>
            <a:pPr algn="ctr"/>
            <a:r>
              <a:rPr lang="en-GB" sz="2400" dirty="0">
                <a:ea typeface="+mn-lt"/>
                <a:cs typeface="+mn-lt"/>
              </a:rPr>
              <a:t>Sentinel (Detection &amp; Sightings)</a:t>
            </a:r>
            <a:endParaRPr lang="en-GB" dirty="0"/>
          </a:p>
          <a:p>
            <a:pPr algn="ctr"/>
            <a:r>
              <a:rPr lang="en-GB" sz="2400">
                <a:ea typeface="+mn-lt"/>
                <a:cs typeface="+mn-lt"/>
              </a:rPr>
              <a:t>      ↓ STIX 2.x Sighting API</a:t>
            </a:r>
            <a:endParaRPr lang="en-GB"/>
          </a:p>
          <a:p>
            <a:pPr algn="ctr"/>
            <a:r>
              <a:rPr lang="en-GB" sz="2400" dirty="0">
                <a:ea typeface="+mn-lt"/>
                <a:cs typeface="+mn-lt"/>
              </a:rPr>
              <a:t>─────────────────────────────────────▶</a:t>
            </a:r>
            <a:endParaRPr lang="en-GB" dirty="0"/>
          </a:p>
          <a:p>
            <a:pPr algn="ctr"/>
            <a:r>
              <a:rPr lang="en-GB" sz="2400" dirty="0">
                <a:ea typeface="+mn-lt"/>
                <a:cs typeface="+mn-lt"/>
              </a:rPr>
              <a:t>MISP (IOC Store • TLP • Confidence)</a:t>
            </a:r>
            <a:endParaRPr lang="en-GB" dirty="0"/>
          </a:p>
          <a:p>
            <a:pPr algn="ctr"/>
            <a:r>
              <a:rPr lang="en-GB" sz="2400" dirty="0">
                <a:ea typeface="+mn-lt"/>
                <a:cs typeface="+mn-lt"/>
              </a:rPr>
              <a:t>↓ TAXII 2.x Bundles</a:t>
            </a:r>
            <a:endParaRPr lang="en-GB" dirty="0"/>
          </a:p>
          <a:p>
            <a:pPr algn="ctr"/>
            <a:r>
              <a:rPr lang="en-GB" sz="2400" dirty="0">
                <a:ea typeface="+mn-lt"/>
                <a:cs typeface="+mn-lt"/>
              </a:rPr>
              <a:t>─────────────────────────────────────▶</a:t>
            </a:r>
            <a:endParaRPr lang="en-GB" dirty="0"/>
          </a:p>
          <a:p>
            <a:pPr algn="ctr"/>
            <a:r>
              <a:rPr lang="en-GB" sz="2400">
                <a:ea typeface="+mn-lt"/>
                <a:cs typeface="+mn-lt"/>
              </a:rPr>
              <a:t>Open-CTI</a:t>
            </a:r>
            <a:r>
              <a:rPr lang="en-GB" sz="2400" dirty="0">
                <a:ea typeface="+mn-lt"/>
                <a:cs typeface="+mn-lt"/>
              </a:rPr>
              <a:t> (Actors • TTP • Campaigns)</a:t>
            </a:r>
            <a:endParaRPr lang="en-GB" dirty="0"/>
          </a:p>
          <a:p>
            <a:pPr algn="ctr"/>
            <a:r>
              <a:rPr lang="en-GB" sz="2400" dirty="0">
                <a:ea typeface="+mn-lt"/>
                <a:cs typeface="+mn-lt"/>
              </a:rPr>
              <a:t>        ↓ Curated Intel → MISP</a:t>
            </a:r>
            <a:endParaRPr lang="en-GB" dirty="0"/>
          </a:p>
          <a:p>
            <a:pPr algn="ctr"/>
            <a:r>
              <a:rPr lang="en-GB" sz="2400" dirty="0">
                <a:ea typeface="+mn-lt"/>
                <a:cs typeface="+mn-lt"/>
              </a:rPr>
              <a:t>─────────────────────────────────────▶</a:t>
            </a:r>
            <a:endParaRPr lang="en-GB" dirty="0"/>
          </a:p>
          <a:p>
            <a:pPr algn="ctr"/>
            <a:r>
              <a:rPr lang="en-GB" sz="2400" dirty="0">
                <a:ea typeface="+mn-lt"/>
                <a:cs typeface="+mn-lt"/>
              </a:rPr>
              <a:t>Continuous Feedback Loop</a:t>
            </a:r>
            <a:endParaRPr lang="en-GB" dirty="0"/>
          </a:p>
          <a:p>
            <a:pPr algn="ctr"/>
            <a:r>
              <a:rPr lang="en-GB" sz="1600" b="1" dirty="0">
                <a:ea typeface="+mn-lt"/>
                <a:cs typeface="+mn-lt"/>
              </a:rPr>
              <a:t>Sentinel validates IOCs; MISP records and shares them; Open-CTI adds context and feeds back.</a:t>
            </a:r>
            <a:endParaRPr lang="en-GB" sz="1600" b="1"/>
          </a:p>
        </p:txBody>
      </p:sp>
    </p:spTree>
    <p:extLst>
      <p:ext uri="{BB962C8B-B14F-4D97-AF65-F5344CB8AC3E}">
        <p14:creationId xmlns:p14="http://schemas.microsoft.com/office/powerpoint/2010/main" val="2592426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8724A-3B9D-8B19-31B1-794EF8B0F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85D6-FF82-E291-ED00-41263A760C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10" y="273425"/>
            <a:ext cx="11536652" cy="1300227"/>
          </a:xfrm>
        </p:spPr>
        <p:txBody>
          <a:bodyPr>
            <a:normAutofit fontScale="90000"/>
          </a:bodyPr>
          <a:lstStyle/>
          <a:p>
            <a:r>
              <a:rPr lang="en-GB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Analysing &amp; Enriching Threats | Open-CTI Context &amp; Reporting Layer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37FFAC-86DA-A04B-D031-549B91647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59" y="2022231"/>
            <a:ext cx="11255298" cy="3768969"/>
          </a:xfrm>
        </p:spPr>
        <p:txBody>
          <a:bodyPr/>
          <a:lstStyle/>
          <a:p>
            <a:endParaRPr lang="en-GB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alibri"/>
              <a:ea typeface="+mn-lt"/>
              <a:cs typeface="+mn-lt"/>
            </a:endParaRPr>
          </a:p>
          <a:p>
            <a:endParaRPr lang="en-GB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r>
              <a:rPr lang="en-GB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                                  </a:t>
            </a:r>
            <a:endParaRPr lang="en-GB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113348-C3DE-2C6D-5CE0-A664EAF243C0}"/>
              </a:ext>
            </a:extLst>
          </p:cNvPr>
          <p:cNvSpPr txBox="1"/>
          <p:nvPr/>
        </p:nvSpPr>
        <p:spPr>
          <a:xfrm>
            <a:off x="1994647" y="1860177"/>
            <a:ext cx="821391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[ Sentinel / SOC ] • Detects IOCs • Confirms Sightings ↓ STIX 2.x Sightings ────────────────────────────────────────────▶ [ MISP – Tactical Layer ] • IOC Repository • TLP &amp; Confidence Tags  Feeds Sentinel via TAXII 2.x ↓ STIX 2.x Bundles ────────────────────────────────────────────▶ [ OpenCTI – Operational / Strategic Layer ] • Actor ↔ TTP ↔ Victim Graphs • Tracks </a:t>
            </a:r>
            <a:r>
              <a:rPr lang="en-US" err="1"/>
              <a:t>first_seen</a:t>
            </a:r>
            <a:r>
              <a:rPr lang="en-US" dirty="0"/>
              <a:t> / </a:t>
            </a:r>
            <a:r>
              <a:rPr lang="en-US" err="1"/>
              <a:t>last_seen</a:t>
            </a:r>
            <a:r>
              <a:rPr lang="en-US" dirty="0"/>
              <a:t> • Sector &amp; Campaign Context  Curated Intel ────────────────────────────────────────────▶ [ Reporting / Advisory ] • Threat Trends • Sector Risk • Emerging TTPs </a:t>
            </a:r>
          </a:p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B100B8-8172-3B45-AF55-15B2C317BF48}"/>
              </a:ext>
            </a:extLst>
          </p:cNvPr>
          <p:cNvSpPr txBox="1"/>
          <p:nvPr/>
        </p:nvSpPr>
        <p:spPr>
          <a:xfrm>
            <a:off x="3059206" y="5121088"/>
            <a:ext cx="6096000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600" b="1" dirty="0" err="1"/>
              <a:t>OpenCTI</a:t>
            </a:r>
            <a:r>
              <a:rPr lang="en-US" sz="1600" dirty="0"/>
              <a:t> = context, timelines &amp; industry analysis.</a:t>
            </a:r>
          </a:p>
          <a:p>
            <a:pPr marL="228600" indent="-228600">
              <a:buFont typeface=""/>
              <a:buChar char="•"/>
            </a:pPr>
            <a:r>
              <a:rPr lang="en-US" sz="1600" dirty="0"/>
              <a:t>Tracks </a:t>
            </a:r>
            <a:r>
              <a:rPr lang="en-US" sz="1600" b="1" dirty="0" err="1"/>
              <a:t>first_seen</a:t>
            </a:r>
            <a:r>
              <a:rPr lang="en-US" sz="1600" b="1" dirty="0"/>
              <a:t> / </a:t>
            </a:r>
            <a:r>
              <a:rPr lang="en-US" sz="1600" b="1" dirty="0" err="1"/>
              <a:t>last_seen</a:t>
            </a:r>
            <a:r>
              <a:rPr lang="en-US" sz="1600" dirty="0"/>
              <a:t>, actor activity, TTP reuse.</a:t>
            </a:r>
          </a:p>
          <a:p>
            <a:pPr marL="228600" indent="-228600">
              <a:buFont typeface=""/>
              <a:buChar char="•"/>
            </a:pPr>
            <a:r>
              <a:rPr lang="en-US" sz="1600" dirty="0"/>
              <a:t>Outputs confidence &amp; relevance scores for reporting.</a:t>
            </a:r>
          </a:p>
          <a:p>
            <a:pPr marL="228600" indent="-228600">
              <a:buFont typeface=""/>
              <a:buChar char="•"/>
            </a:pPr>
            <a:r>
              <a:rPr lang="en-US" sz="1600" b="1" dirty="0"/>
              <a:t>MISP ↔ </a:t>
            </a:r>
            <a:r>
              <a:rPr lang="en-US" sz="1600" b="1" dirty="0" err="1"/>
              <a:t>OpenCTI</a:t>
            </a:r>
            <a:r>
              <a:rPr lang="en-US" sz="1600" dirty="0"/>
              <a:t> share STIX 2 bundles to stay in sync.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517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3B9E1-B60B-1969-8F44-0CC80225D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1424-584F-1759-405D-EAD786B35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10" y="273425"/>
            <a:ext cx="11536652" cy="2039815"/>
          </a:xfrm>
        </p:spPr>
        <p:txBody>
          <a:bodyPr/>
          <a:lstStyle/>
          <a:p>
            <a:r>
              <a:rPr lang="en-GB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Prioritisation &amp; Triaging | Confidence Scoring Model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C69C0-5C49-A5F5-FEA9-6427F7401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59" y="2022231"/>
            <a:ext cx="11255298" cy="3768969"/>
          </a:xfrm>
        </p:spPr>
        <p:txBody>
          <a:bodyPr/>
          <a:lstStyle/>
          <a:p>
            <a:endParaRPr lang="en-GB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alibri"/>
              <a:ea typeface="+mn-lt"/>
              <a:cs typeface="+mn-lt"/>
            </a:endParaRPr>
          </a:p>
          <a:p>
            <a:endParaRPr lang="en-GB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r>
              <a:rPr lang="en-GB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                                  </a:t>
            </a:r>
            <a:endParaRPr lang="en-GB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CC40CF-C191-ACAE-CA61-24DA3958B490}"/>
              </a:ext>
            </a:extLst>
          </p:cNvPr>
          <p:cNvSpPr txBox="1"/>
          <p:nvPr/>
        </p:nvSpPr>
        <p:spPr>
          <a:xfrm>
            <a:off x="403413" y="2308411"/>
            <a:ext cx="11093821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i="1" dirty="0"/>
          </a:p>
          <a:p>
            <a:pPr algn="ctr"/>
            <a:r>
              <a:rPr lang="en-GB" sz="2400" b="1" dirty="0">
                <a:ea typeface="+mn-lt"/>
                <a:cs typeface="+mn-lt"/>
              </a:rPr>
              <a:t>Weighted Model:</a:t>
            </a:r>
            <a:r>
              <a:rPr lang="en-GB" sz="2400" dirty="0">
                <a:ea typeface="+mn-lt"/>
                <a:cs typeface="+mn-lt"/>
              </a:rPr>
              <a:t> (Detection × 0.4) + (Intel Confidence × 0.3) + (Kill-Chain Relevance × 0.2) + (Temporal × 0.1)</a:t>
            </a:r>
          </a:p>
          <a:p>
            <a:pPr algn="ctr"/>
            <a:r>
              <a:rPr lang="en-GB" sz="2400" b="1" dirty="0">
                <a:ea typeface="+mn-lt"/>
                <a:cs typeface="+mn-lt"/>
              </a:rPr>
              <a:t>Thresholds:</a:t>
            </a:r>
            <a:r>
              <a:rPr lang="en-GB" sz="2400" dirty="0">
                <a:ea typeface="+mn-lt"/>
                <a:cs typeface="+mn-lt"/>
              </a:rPr>
              <a:t> ≥70 = Alert | 40–69 = Hunt | &lt;40 = Log</a:t>
            </a:r>
          </a:p>
          <a:p>
            <a:pPr marL="285750" indent="-285750" algn="ctr">
              <a:buFont typeface="Arial"/>
              <a:buChar char="•"/>
            </a:pPr>
            <a:r>
              <a:rPr lang="en-GB" sz="2400" dirty="0">
                <a:ea typeface="+mn-lt"/>
                <a:cs typeface="+mn-lt"/>
              </a:rPr>
              <a:t>Sightings raise confidence automatically.</a:t>
            </a:r>
          </a:p>
          <a:p>
            <a:pPr marL="285750" indent="-285750" algn="ctr">
              <a:buFont typeface="Arial"/>
              <a:buChar char="•"/>
            </a:pPr>
            <a:r>
              <a:rPr lang="en-GB" sz="2400" dirty="0">
                <a:ea typeface="+mn-lt"/>
                <a:cs typeface="+mn-lt"/>
              </a:rPr>
              <a:t>Manual analyst validation adds TTP / actor context.</a:t>
            </a:r>
          </a:p>
          <a:p>
            <a:pPr marL="285750" indent="-285750" algn="ctr">
              <a:buFont typeface="Arial"/>
              <a:buChar char="•"/>
            </a:pPr>
            <a:r>
              <a:rPr lang="en-GB" sz="2400" dirty="0">
                <a:ea typeface="+mn-lt"/>
                <a:cs typeface="+mn-lt"/>
              </a:rPr>
              <a:t>Scores sync through STIX 2.x fields into MISP &amp; </a:t>
            </a:r>
            <a:r>
              <a:rPr lang="en-GB" sz="2400" dirty="0" err="1">
                <a:ea typeface="+mn-lt"/>
                <a:cs typeface="+mn-lt"/>
              </a:rPr>
              <a:t>OpenCTI</a:t>
            </a:r>
            <a:r>
              <a:rPr lang="en-GB" sz="2400" dirty="0">
                <a:ea typeface="+mn-lt"/>
                <a:cs typeface="+mn-lt"/>
              </a:rPr>
              <a:t>.</a:t>
            </a:r>
          </a:p>
          <a:p>
            <a:pPr algn="ctr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53721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ABDAE-36FE-F0EA-38EC-EBE3FCD6F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2F65-4CE0-AC3B-4276-071151464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10" y="273425"/>
            <a:ext cx="11536652" cy="2039815"/>
          </a:xfrm>
        </p:spPr>
        <p:txBody>
          <a:bodyPr/>
          <a:lstStyle/>
          <a:p>
            <a:r>
              <a:rPr lang="en-GB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Operational ↔ Intelligence Bridge | Value Add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23701-A099-6573-5BD1-B065A9284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59" y="2022231"/>
            <a:ext cx="11255298" cy="3768969"/>
          </a:xfrm>
        </p:spPr>
        <p:txBody>
          <a:bodyPr/>
          <a:lstStyle/>
          <a:p>
            <a:endParaRPr lang="en-GB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alibri"/>
              <a:ea typeface="+mn-lt"/>
              <a:cs typeface="+mn-lt"/>
            </a:endParaRPr>
          </a:p>
          <a:p>
            <a:endParaRPr lang="en-GB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r>
              <a:rPr lang="en-GB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                                  </a:t>
            </a:r>
            <a:endParaRPr lang="en-GB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BF180-3CC7-D0A7-2F04-D3B32FD4005E}"/>
              </a:ext>
            </a:extLst>
          </p:cNvPr>
          <p:cNvSpPr txBox="1"/>
          <p:nvPr/>
        </p:nvSpPr>
        <p:spPr>
          <a:xfrm>
            <a:off x="1703294" y="2723029"/>
            <a:ext cx="9558617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 dirty="0"/>
              <a:t>Senior MDR / Hunting background bridges SOC and CTI.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Turn detections into STIX Indicators &amp; Sightings (shared via TAXII 2).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Build KQL / Sigma rules from </a:t>
            </a:r>
            <a:r>
              <a:rPr lang="en-US" sz="2400" err="1"/>
              <a:t>OpenCTI</a:t>
            </a:r>
            <a:r>
              <a:rPr lang="en-US" sz="2400" dirty="0"/>
              <a:t> TTP graphs.</a:t>
            </a:r>
          </a:p>
          <a:p>
            <a:pPr marL="228600" indent="-228600">
              <a:buFont typeface=""/>
              <a:buChar char="•"/>
            </a:pPr>
            <a:r>
              <a:rPr lang="en-US" sz="2400"/>
              <a:t>Feed sightings to MISP → update confidence / actor reach.</a:t>
            </a:r>
            <a:endParaRPr lang="en-US" sz="2400" dirty="0"/>
          </a:p>
          <a:p>
            <a:pPr marL="228600" indent="-228600">
              <a:buFont typeface=""/>
              <a:buChar char="•"/>
            </a:pPr>
            <a:r>
              <a:rPr lang="en-US" sz="2400" dirty="0"/>
              <a:t>Publish intel briefs using </a:t>
            </a:r>
            <a:r>
              <a:rPr lang="en-US" sz="2400" dirty="0" err="1"/>
              <a:t>OpenCTI</a:t>
            </a:r>
            <a:r>
              <a:rPr lang="en-US" sz="2400" dirty="0"/>
              <a:t> reports &amp; first/last seen.</a:t>
            </a:r>
          </a:p>
          <a:p>
            <a:pPr marL="228600" indent="-228600">
              <a:buFont typeface=""/>
              <a:buChar char="•"/>
            </a:pPr>
            <a:r>
              <a:rPr lang="en-US" sz="2400" b="1" dirty="0"/>
              <a:t>Outcome:</a:t>
            </a:r>
            <a:r>
              <a:rPr lang="en-US" sz="2400" dirty="0"/>
              <a:t> Continuous loop → less noise, faster response.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701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3DD3C-B390-2793-B40D-DECFC611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19641B0-5818-0892-0698-9480B445C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5516211"/>
            <a:ext cx="8676222" cy="7222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GB" sz="100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Calibri"/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endParaRPr lang="en-GB" sz="100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lnSpc>
                <a:spcPct val="90000"/>
              </a:lnSpc>
            </a:pPr>
            <a:r>
              <a:rPr lang="en-GB" sz="100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                                  </a:t>
            </a:r>
            <a:endParaRPr lang="en-GB" sz="100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7833D7-C49F-D32F-01BC-C77F5C73A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635452"/>
              </p:ext>
            </p:extLst>
          </p:nvPr>
        </p:nvGraphicFramePr>
        <p:xfrm>
          <a:off x="622542" y="2209754"/>
          <a:ext cx="10916464" cy="4667190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355800">
                  <a:extLst>
                    <a:ext uri="{9D8B030D-6E8A-4147-A177-3AD203B41FA5}">
                      <a16:colId xmlns:a16="http://schemas.microsoft.com/office/drawing/2014/main" val="2356498554"/>
                    </a:ext>
                  </a:extLst>
                </a:gridCol>
                <a:gridCol w="4359929">
                  <a:extLst>
                    <a:ext uri="{9D8B030D-6E8A-4147-A177-3AD203B41FA5}">
                      <a16:colId xmlns:a16="http://schemas.microsoft.com/office/drawing/2014/main" val="791300647"/>
                    </a:ext>
                  </a:extLst>
                </a:gridCol>
                <a:gridCol w="5200735">
                  <a:extLst>
                    <a:ext uri="{9D8B030D-6E8A-4147-A177-3AD203B41FA5}">
                      <a16:colId xmlns:a16="http://schemas.microsoft.com/office/drawing/2014/main" val="3965037457"/>
                    </a:ext>
                  </a:extLst>
                </a:gridCol>
              </a:tblGrid>
              <a:tr h="767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 b="1" cap="none" spc="0" dirty="0">
                          <a:solidFill>
                            <a:schemeClr val="bg1"/>
                          </a:solidFill>
                        </a:rPr>
                        <a:t>Year</a:t>
                      </a:r>
                    </a:p>
                  </a:txBody>
                  <a:tcPr marL="168161" marR="168161" marT="168161" marB="8408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 b="1" cap="none" spc="0" dirty="0">
                          <a:solidFill>
                            <a:schemeClr val="bg1"/>
                          </a:solidFill>
                        </a:rPr>
                        <a:t>Focus</a:t>
                      </a:r>
                    </a:p>
                  </a:txBody>
                  <a:tcPr marL="168161" marR="168161" marT="168161" marB="8408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900" b="1" cap="none" spc="0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marL="168161" marR="168161" marT="168161" marB="8408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34688"/>
                  </a:ext>
                </a:extLst>
              </a:tr>
              <a:tr h="655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200" b="1" cap="none" spc="0" dirty="0">
                          <a:solidFill>
                            <a:schemeClr val="tx1"/>
                          </a:solidFill>
                        </a:rPr>
                        <a:t>2023</a:t>
                      </a:r>
                      <a:endParaRPr lang="en-GB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68161" marR="168161" marT="168161" marB="840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200" cap="none" spc="0" dirty="0">
                          <a:solidFill>
                            <a:schemeClr val="tx1"/>
                          </a:solidFill>
                        </a:rPr>
                        <a:t>Manual hunts / behaviour rules</a:t>
                      </a:r>
                    </a:p>
                  </a:txBody>
                  <a:tcPr marL="168161" marR="168161" marT="168161" marB="840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200" cap="none" spc="0" dirty="0">
                          <a:solidFill>
                            <a:schemeClr val="tx1"/>
                          </a:solidFill>
                        </a:rPr>
                        <a:t>SolarWinds / </a:t>
                      </a:r>
                      <a:r>
                        <a:rPr lang="en-GB" sz="2200" cap="none" spc="0" dirty="0" err="1">
                          <a:solidFill>
                            <a:schemeClr val="tx1"/>
                          </a:solidFill>
                        </a:rPr>
                        <a:t>NotPetya</a:t>
                      </a:r>
                      <a:r>
                        <a:rPr lang="en-GB" sz="2200" cap="none" spc="0" dirty="0">
                          <a:solidFill>
                            <a:schemeClr val="tx1"/>
                          </a:solidFill>
                        </a:rPr>
                        <a:t> • Sigma / KQL</a:t>
                      </a:r>
                    </a:p>
                  </a:txBody>
                  <a:tcPr marL="168161" marR="168161" marT="168161" marB="840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46002"/>
                  </a:ext>
                </a:extLst>
              </a:tr>
              <a:tr h="992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200" b="1" cap="none" spc="0" dirty="0">
                          <a:solidFill>
                            <a:schemeClr val="tx1"/>
                          </a:solidFill>
                        </a:rPr>
                        <a:t>2024</a:t>
                      </a:r>
                      <a:endParaRPr lang="en-GB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68161" marR="168161" marT="168161" marB="840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200" cap="none" spc="0" dirty="0">
                          <a:solidFill>
                            <a:schemeClr val="tx1"/>
                          </a:solidFill>
                        </a:rPr>
                        <a:t>SOC + CTI fusion automation</a:t>
                      </a:r>
                    </a:p>
                  </a:txBody>
                  <a:tcPr marL="168161" marR="168161" marT="168161" marB="840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200" cap="none" spc="0" dirty="0">
                          <a:solidFill>
                            <a:schemeClr val="tx1"/>
                          </a:solidFill>
                        </a:rPr>
                        <a:t>MISP ↔ Sentinel (STIX 2 / TAXII 2) • SOAR feedback</a:t>
                      </a:r>
                    </a:p>
                  </a:txBody>
                  <a:tcPr marL="168161" marR="168161" marT="168161" marB="840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6046"/>
                  </a:ext>
                </a:extLst>
              </a:tr>
              <a:tr h="992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200" b="1" cap="none" spc="0" dirty="0">
                          <a:solidFill>
                            <a:schemeClr val="tx1"/>
                          </a:solidFill>
                        </a:rPr>
                        <a:t>2025</a:t>
                      </a:r>
                      <a:endParaRPr lang="en-GB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68161" marR="168161" marT="168161" marB="840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200" cap="none" spc="0" dirty="0">
                          <a:solidFill>
                            <a:schemeClr val="tx1"/>
                          </a:solidFill>
                        </a:rPr>
                        <a:t>AI-assisted attacks &amp; defence</a:t>
                      </a:r>
                    </a:p>
                  </a:txBody>
                  <a:tcPr marL="168161" marR="168161" marT="168161" marB="840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200" cap="none" spc="0" dirty="0">
                          <a:solidFill>
                            <a:schemeClr val="tx1"/>
                          </a:solidFill>
                        </a:rPr>
                        <a:t>Deep-fake BEC / GenAI malware • Predictive CTI profiling / Ai Engines</a:t>
                      </a:r>
                    </a:p>
                  </a:txBody>
                  <a:tcPr marL="168161" marR="168161" marT="168161" marB="840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022719"/>
                  </a:ext>
                </a:extLst>
              </a:tr>
              <a:tr h="99215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22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68161" marR="168161" marT="168161" marB="8408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68161" marR="168161" marT="168161" marB="8408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68161" marR="168161" marT="168161" marB="8408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2582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189B419-540D-1E4B-B047-6C33FECBAAD1}"/>
              </a:ext>
            </a:extLst>
          </p:cNvPr>
          <p:cNvSpPr txBox="1"/>
          <p:nvPr/>
        </p:nvSpPr>
        <p:spPr>
          <a:xfrm>
            <a:off x="890680" y="387252"/>
            <a:ext cx="1045222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 dirty="0">
                <a:ea typeface="+mn-lt"/>
                <a:cs typeface="+mn-lt"/>
              </a:rPr>
              <a:t>(Bonus) – Evolution of Threat Intelligence 2023 → 2025 | AI Threat Vectors</a:t>
            </a:r>
            <a:endParaRPr lang="en-US" sz="4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0CCF39-36C6-47D0-13CD-57AEEAA0FB64}"/>
              </a:ext>
            </a:extLst>
          </p:cNvPr>
          <p:cNvSpPr txBox="1"/>
          <p:nvPr/>
        </p:nvSpPr>
        <p:spPr>
          <a:xfrm>
            <a:off x="627530" y="5939118"/>
            <a:ext cx="1112744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/>
              <a:t>CTI evolves from manual feeds → automated fusion → AI-driven prediction.</a:t>
            </a:r>
            <a:br>
              <a:rPr lang="en-US"/>
            </a:br>
            <a:r>
              <a:rPr lang="en-US" i="1"/>
              <a:t>NTT DATA’s framework already embeds the Zero-Trust validation needed for AI age threats.</a:t>
            </a:r>
            <a:endParaRPr lang="en-US"/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43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A9E023"/>
      </a:accent1>
      <a:accent2>
        <a:srgbClr val="1FCDB6"/>
      </a:accent2>
      <a:accent3>
        <a:srgbClr val="5F99C9"/>
      </a:accent3>
      <a:accent4>
        <a:srgbClr val="AE65D1"/>
      </a:accent4>
      <a:accent5>
        <a:srgbClr val="D06423"/>
      </a:accent5>
      <a:accent6>
        <a:srgbClr val="DCAB11"/>
      </a:accent6>
      <a:hlink>
        <a:srgbClr val="ADE133"/>
      </a:hlink>
      <a:folHlink>
        <a:srgbClr val="C2EA66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1FEE2289-88FB-467C-9C9A-54F3C85768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Mesh</vt:lpstr>
      <vt:lpstr>  Including the Tools and Technologies Used for Prioritisation and Triaging Methodology for Identifying and Analysing Threats </vt:lpstr>
      <vt:lpstr>Zero-Trust Threat Intelligence in Practice</vt:lpstr>
      <vt:lpstr>Methodology Overview | From Collection to Action </vt:lpstr>
      <vt:lpstr>SOC ↔ MISP ↔ Open-CTI Zero-Trust Fusion Loop</vt:lpstr>
      <vt:lpstr>Analysing &amp; Enriching Threats | Open-CTI Context &amp; Reporting Layer</vt:lpstr>
      <vt:lpstr>Prioritisation &amp; Triaging | Confidence Scoring Model</vt:lpstr>
      <vt:lpstr>Operational ↔ Intelligence Bridge | Value Add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252</cp:revision>
  <dcterms:created xsi:type="dcterms:W3CDTF">2013-07-15T20:26:40Z</dcterms:created>
  <dcterms:modified xsi:type="dcterms:W3CDTF">2025-11-03T14:06:23Z</dcterms:modified>
</cp:coreProperties>
</file>